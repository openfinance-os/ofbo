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The one-line thesis: Ozone owns connectivity (the control plane); this partnership adds the operations layer (the execution layer) that lets institutions actually run Open Finance. Value chain: MiddleLeap builds, Ozone distributes, SIs deliver.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market: CBUAE C 03/2025 mandates ~50 banks and 60+ insurers/brokers against fixed deadlines and a per-event liability schedule (AED 200 to 5M, under Nebras's 5M/claim cap). Most cannot build the operations layer in time. The gap between certified and operationally live is the whole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UAE model's own split: API Hub is the control plane (Ozone's), the LFI is the execution layer. Ozone gets an institution connected and certified; it does not run the day-to-day operations on the right. That operational burden is recurring, mandatory, and beyond the tail's capacity to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OFBO is the internal control room: check the money, help customers, watch the platform. Six capability areas, all carrying the dual LFI + TPP-of-record role. Demonstrable today on a live seeded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architectural facts de-risk distribution: the port model makes it vendor-neutral; the adapter pattern makes deployment a configuration-and-integration job (the SI unit of work); multi-tenancy is built at the data layer. And it is demonstrable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Ozone is not being asked to enter a new business — it is being offered a value-adding layer that sits exactly where its offer stops, sold through the motion it already runs. It moves Ozone's proposition from connectivity to connectivity-plus-operations.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reseller / OEM white-label: Ozone owns the customer. Packaging follows the console/assurance boundary. The assurance tier audits the platform, so it is distributed by Ozone but independently operated by MiddleLeap under contract — the independence is the product and the safeguard protects the revenue.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revenue streams, described as mechanics only per the brief. The money flows institution to Ozone to MiddleLeap, with SIs earning integration. Price is anchored to liability avoided and build-vs-buy avoided. No numbers here — the structure draws on Ozone's own partner ladder and standard as-a-service norms.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motion runs through Ozone and its SIs and reuses assets that exist today: the open Data Sandbox for credibility, the Readiness Wizard to qualify and scope, an SI-led pilot, then white-label rollout. Sequenced like the CAAP segment extension. A sensible lighthouse is 2-3 insurers or exchange houses.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deliberate about proven vs planned. The demo and the open sandbox are real; the track record is real. And we state the maturity honestly: demo-proven not production-proven, synthetic-only, the multi-tenant control plane designed and backlogged. Hardening is joint work — consistent with an evidence-led brand.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path from demo-live to first paying tenant is sequenced and human-gated (detailed in the multi-tenant blueprint). To start, we ask Ozone for channel commitment, a lighthouse customer, a briefed SI, and support for a joint scheme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Four concrete next steps: a 45-minute demo, a commercial session, a scoped lighthouse pilot, and a joint scheme conversation. All demo data is synthetic; commercials are indicative and for negotiation.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Middle</a:t>
            </a:r>
            <a:pPr algn="l" indent="0" marL="0">
              <a:buNone/>
            </a:pPr>
            <a:r>
              <a:rPr lang="en-US" sz="2000" b="1" dirty="0">
                <a:solidFill>
                  <a:srgbClr val="E65C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Leap</a:t>
            </a:r>
            <a:pPr algn="l" indent="0" marL="0">
              <a:buNone/>
            </a:pPr>
            <a:r>
              <a:rPr lang="en-US" sz="2000" b="1" dirty="0">
                <a:solidFill>
                  <a:srgbClr val="A8A5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×   Ozone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 rot="2700000">
            <a:off x="11457432" y="658368"/>
            <a:ext cx="164592" cy="164592"/>
          </a:xfrm>
          <a:prstGeom prst="rect">
            <a:avLst/>
          </a:prstGeom>
          <a:solidFill>
            <a:srgbClr val="E65C2D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965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00" kern="0" dirty="0">
                <a:solidFill>
                  <a:srgbClr val="F072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COMMERCIAL PROPOSAL  ·  CONFIDENTIAL DRAFT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233172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200" dirty="0">
                <a:solidFill>
                  <a:srgbClr val="EC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Open Finance operations,</a:t>
            </a:r>
            <a:endParaRPr lang="en-US" sz="6200" dirty="0"/>
          </a:p>
          <a:p>
            <a:pPr algn="l" indent="0" marL="0">
              <a:lnSpc>
                <a:spcPts val="6400"/>
              </a:lnSpc>
              <a:buNone/>
            </a:pPr>
            <a:r>
              <a:rPr lang="en-US" sz="6200" i="1" dirty="0">
                <a:solidFill>
                  <a:srgbClr val="E65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out of the box.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566928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A8A59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distribution partnership between MiddleLeap and Ozone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5029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07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Ozone connects the market to Open Finance. This partnership lets the market run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5806440"/>
            <a:ext cx="11055096" cy="0"/>
          </a:xfrm>
          <a:prstGeom prst="line">
            <a:avLst/>
          </a:prstGeom>
          <a:noFill/>
          <a:ln w="12700">
            <a:solidFill>
              <a:srgbClr val="2A2A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DEDB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MiddleLeap builds   ·   Ozone distributes   ·   SIs deliver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66928" y="566928"/>
            <a:ext cx="137160" cy="137160"/>
          </a:xfrm>
          <a:prstGeom prst="rect">
            <a:avLst/>
          </a:prstGeom>
          <a:solidFill>
            <a:srgbClr val="E65C2D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00" kern="0" dirty="0">
                <a:solidFill>
                  <a:srgbClr val="F072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MOMENT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dirty="0">
                <a:solidFill>
                  <a:srgbClr val="EC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mandate the whole market must meet — </a:t>
            </a:r>
            <a:pPr algn="l" indent="0" marL="0">
              <a:lnSpc>
                <a:spcPts val="3600"/>
              </a:lnSpc>
              <a:buNone/>
            </a:pPr>
            <a:r>
              <a:rPr lang="en-US" sz="3300" i="1" dirty="0">
                <a:solidFill>
                  <a:srgbClr val="E65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and cannot build for.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3441192" cy="160020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2331720"/>
            <a:ext cx="3349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E65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~50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12648" y="3200400"/>
            <a:ext cx="3349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A8A5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banks mandated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73880" y="2148840"/>
            <a:ext cx="3441192" cy="160020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19600" y="2331720"/>
            <a:ext cx="3349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E65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60+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419600" y="3200400"/>
            <a:ext cx="3349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A8A5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insurers &amp; brokers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80832" y="2148840"/>
            <a:ext cx="3441192" cy="160020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6552" y="2331720"/>
            <a:ext cx="3349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E65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AED 200–5M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226552" y="3200400"/>
            <a:ext cx="3349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A8A59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per-event liability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4114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release calendar is fixed: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44805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Extended Data + Insurance Quotes — R4+, Apr 2026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Corporate suite — R5, Sep 2026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Insurance data-sharing onboarding — 2026-Q3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CAAP migration — 2026-Q4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63840" y="4709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A8A59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Certified </a:t>
            </a:r>
            <a:pPr algn="l" indent="0" marL="0">
              <a:buNone/>
            </a:pPr>
            <a:r>
              <a:rPr lang="en-US" sz="2400" b="1" dirty="0">
                <a:solidFill>
                  <a:srgbClr val="E65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≠</a:t>
            </a:r>
            <a:pPr algn="l" indent="0" marL="0">
              <a:buNone/>
            </a:pPr>
            <a:r>
              <a:rPr lang="en-US" sz="2400" dirty="0">
                <a:solidFill>
                  <a:srgbClr val="EC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operationally live.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66928" y="566928"/>
            <a:ext cx="137160" cy="137160"/>
          </a:xfrm>
          <a:prstGeom prst="rect">
            <a:avLst/>
          </a:prstGeom>
          <a:solidFill>
            <a:srgbClr val="E65C2D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00" kern="0" dirty="0">
                <a:solidFill>
                  <a:srgbClr val="F072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GAP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dirty="0">
                <a:solidFill>
                  <a:srgbClr val="EC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API Hub = control plane.  LFI = </a:t>
            </a:r>
            <a:pPr algn="l" indent="0" marL="0">
              <a:lnSpc>
                <a:spcPts val="3600"/>
              </a:lnSpc>
              <a:buNone/>
            </a:pPr>
            <a:r>
              <a:rPr lang="en-US" sz="3300" i="1" dirty="0">
                <a:solidFill>
                  <a:srgbClr val="E65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execution layer.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5298948" cy="370332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377440"/>
            <a:ext cx="47503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FA6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OZONE OWNS — CONNECTIVITY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2834640"/>
            <a:ext cx="479602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Hub — authorises consent, issues tokens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Mediates every TPP ↔ LFI call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Ozone Connect — gets the LFI certified &amp; on-network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CAAP centralized authentication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23076" y="2148840"/>
            <a:ext cx="5298948" cy="370332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97396" y="2377440"/>
            <a:ext cx="47503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072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 YET SUPPLIED — OPERATIONS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97396" y="2834640"/>
            <a:ext cx="479602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Fee &amp; settlement reconciliation (3-way)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Consent &amp; dispute operations, refunds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Mandatory reporting — incl. 16 login-only reports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Liability exposure monitoring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Four-eyes governance, audit, BCBS 239 lineage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TPP-of-record billing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598932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A5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None of this is connectivity. All of it is mandatory. This is the layer the tail cannot build.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66928" y="566928"/>
            <a:ext cx="137160" cy="137160"/>
          </a:xfrm>
          <a:prstGeom prst="rect">
            <a:avLst/>
          </a:prstGeom>
          <a:solidFill>
            <a:srgbClr val="E65C2D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00" kern="0" dirty="0">
                <a:solidFill>
                  <a:srgbClr val="F072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SOLUTION — OFBO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dirty="0">
                <a:solidFill>
                  <a:srgbClr val="EC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operations layer, </a:t>
            </a:r>
            <a:pPr algn="l" indent="0" marL="0">
              <a:lnSpc>
                <a:spcPts val="3600"/>
              </a:lnSpc>
              <a:buNone/>
            </a:pPr>
            <a:r>
              <a:rPr lang="en-US" sz="3300" i="1" dirty="0">
                <a:solidFill>
                  <a:srgbClr val="E65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already built.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3471672" cy="141732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795528" y="2404872"/>
            <a:ext cx="109728" cy="109728"/>
          </a:xfrm>
          <a:prstGeom prst="rect">
            <a:avLst/>
          </a:prstGeom>
          <a:solidFill>
            <a:srgbClr val="E65C2D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2295144"/>
            <a:ext cx="292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Reconciliation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" y="2715768"/>
            <a:ext cx="301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8A5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3-way match vs the hub, break workflow, dispute filing, margin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8640" y="2148840"/>
            <a:ext cx="3471672" cy="141732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4587240" y="2404872"/>
            <a:ext cx="109728" cy="109728"/>
          </a:xfrm>
          <a:prstGeom prst="rect">
            <a:avLst/>
          </a:prstGeom>
          <a:solidFill>
            <a:srgbClr val="E65C2D"/>
          </a:solidFill>
          <a:ln/>
        </p:spPr>
      </p:sp>
      <p:sp>
        <p:nvSpPr>
          <p:cNvPr id="11" name="Text 9"/>
          <p:cNvSpPr/>
          <p:nvPr/>
        </p:nvSpPr>
        <p:spPr>
          <a:xfrm>
            <a:off x="4815840" y="2295144"/>
            <a:ext cx="292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care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87240" y="2715768"/>
            <a:ext cx="301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8A5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Consent search, &lt;5s revoke, four-eyes refunds, inquiry bundles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50352" y="2148840"/>
            <a:ext cx="3471672" cy="141732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8378952" y="2404872"/>
            <a:ext cx="109728" cy="109728"/>
          </a:xfrm>
          <a:prstGeom prst="rect">
            <a:avLst/>
          </a:prstGeom>
          <a:solidFill>
            <a:srgbClr val="E65C2D"/>
          </a:solidFill>
          <a:ln/>
        </p:spPr>
      </p:sp>
      <p:sp>
        <p:nvSpPr>
          <p:cNvPr id="15" name="Text 13"/>
          <p:cNvSpPr/>
          <p:nvPr/>
        </p:nvSpPr>
        <p:spPr>
          <a:xfrm>
            <a:off x="8607552" y="2295144"/>
            <a:ext cx="292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78952" y="2715768"/>
            <a:ext cx="301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8A5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Executive, compliance, risk &amp; finance views; liability monitor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3840480"/>
            <a:ext cx="3471672" cy="141732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795528" y="4096512"/>
            <a:ext cx="109728" cy="109728"/>
          </a:xfrm>
          <a:prstGeom prst="rect">
            <a:avLst/>
          </a:prstGeom>
          <a:solidFill>
            <a:srgbClr val="E65C2D"/>
          </a:solidFill>
          <a:ln/>
        </p:spPr>
      </p:sp>
      <p:sp>
        <p:nvSpPr>
          <p:cNvPr id="19" name="Text 17"/>
          <p:cNvSpPr/>
          <p:nvPr/>
        </p:nvSpPr>
        <p:spPr>
          <a:xfrm>
            <a:off x="1024128" y="3986784"/>
            <a:ext cx="292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Regulated substrate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95528" y="4407408"/>
            <a:ext cx="301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8A5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RBAC, four-eyes, INSERT-only audit, BCBS 239 lineage, MFA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58640" y="3840480"/>
            <a:ext cx="3471672" cy="141732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700000">
            <a:off x="4587240" y="4096512"/>
            <a:ext cx="109728" cy="109728"/>
          </a:xfrm>
          <a:prstGeom prst="rect">
            <a:avLst/>
          </a:prstGeom>
          <a:solidFill>
            <a:srgbClr val="E65C2D"/>
          </a:solidFill>
          <a:ln/>
        </p:spPr>
      </p:sp>
      <p:sp>
        <p:nvSpPr>
          <p:cNvPr id="23" name="Text 21"/>
          <p:cNvSpPr/>
          <p:nvPr/>
        </p:nvSpPr>
        <p:spPr>
          <a:xfrm>
            <a:off x="4815840" y="3986784"/>
            <a:ext cx="292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Integration enablers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87240" y="4407408"/>
            <a:ext cx="301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8A5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Nine ports to the institution's estate (P1–P9)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50352" y="3840480"/>
            <a:ext cx="3471672" cy="141732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2700000">
            <a:off x="8378952" y="4096512"/>
            <a:ext cx="109728" cy="109728"/>
          </a:xfrm>
          <a:prstGeom prst="rect">
            <a:avLst/>
          </a:prstGeom>
          <a:solidFill>
            <a:srgbClr val="E65C2D"/>
          </a:solidFill>
          <a:ln/>
        </p:spPr>
      </p:sp>
      <p:sp>
        <p:nvSpPr>
          <p:cNvPr id="27" name="Text 25"/>
          <p:cNvSpPr/>
          <p:nvPr/>
        </p:nvSpPr>
        <p:spPr>
          <a:xfrm>
            <a:off x="8607552" y="3986784"/>
            <a:ext cx="292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Scheme &amp; TPP billing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78952" y="4407408"/>
            <a:ext cx="301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8A5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TPP registry, reconcile-before-invoice, scheme cases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" y="59436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A5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for the institution that wears two hats: </a:t>
            </a:r>
            <a:pPr algn="ctr" indent="0" marL="0">
              <a:buNone/>
            </a:pPr>
            <a:r>
              <a:rPr lang="en-US" sz="1200" b="1" i="1" dirty="0">
                <a:solidFill>
                  <a:srgbClr val="F07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LFI</a:t>
            </a:r>
            <a:pPr algn="ctr" indent="0" marL="0">
              <a:buNone/>
            </a:pPr>
            <a:r>
              <a:rPr lang="en-US" sz="1200" i="1" dirty="0">
                <a:solidFill>
                  <a:srgbClr val="A8A5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inbound traffic and </a:t>
            </a:r>
            <a:pPr algn="ctr" indent="0" marL="0">
              <a:buNone/>
            </a:pPr>
            <a:r>
              <a:rPr lang="en-US" sz="1200" b="1" i="1" dirty="0">
                <a:solidFill>
                  <a:srgbClr val="F07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TPP-of-record</a:t>
            </a:r>
            <a:pPr algn="ctr" indent="0" marL="0">
              <a:buNone/>
            </a:pPr>
            <a:r>
              <a:rPr lang="en-US" sz="1200" i="1" dirty="0">
                <a:solidFill>
                  <a:srgbClr val="A8A5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the fintechs it hosts.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66928" y="566928"/>
            <a:ext cx="137160" cy="137160"/>
          </a:xfrm>
          <a:prstGeom prst="rect">
            <a:avLst/>
          </a:prstGeom>
          <a:solidFill>
            <a:srgbClr val="E65C2D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00" kern="0" dirty="0">
                <a:solidFill>
                  <a:srgbClr val="F072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IT PRODUCTISES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dirty="0">
                <a:solidFill>
                  <a:srgbClr val="EC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Built to be distributed — </a:t>
            </a:r>
            <a:pPr algn="l" indent="0" marL="0">
              <a:lnSpc>
                <a:spcPts val="3600"/>
              </a:lnSpc>
              <a:buNone/>
            </a:pPr>
            <a:r>
              <a:rPr lang="en-US" sz="3300" i="1" dirty="0">
                <a:solidFill>
                  <a:srgbClr val="E65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not rebuilt each time.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 rot="2700000">
            <a:off x="566928" y="2313432"/>
            <a:ext cx="128016" cy="128016"/>
          </a:xfrm>
          <a:prstGeom prst="rect">
            <a:avLst/>
          </a:prstGeom>
          <a:solidFill>
            <a:srgbClr val="E65C2D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21945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Vendor-neutral by construction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07408" y="2194560"/>
            <a:ext cx="72146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institution-specific system is a port (P1–P9). The core never references a vendor; the estate is mapped in configuration.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3108960"/>
            <a:ext cx="11055096" cy="0"/>
          </a:xfrm>
          <a:prstGeom prst="line">
            <a:avLst/>
          </a:prstGeom>
          <a:noFill/>
          <a:ln w="12700">
            <a:solidFill>
              <a:srgbClr val="2A2A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566928" y="3273552"/>
            <a:ext cx="128016" cy="128016"/>
          </a:xfrm>
          <a:prstGeom prst="rect">
            <a:avLst/>
          </a:prstGeom>
          <a:solidFill>
            <a:srgbClr val="E65C2D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31546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Adapter swap, not rewrite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07408" y="3154680"/>
            <a:ext cx="72146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port has a simulator and an enterprise adapter behind one interface. Porting = adapter replacement + a Bank Profile, gated by the same contract tests.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4069080"/>
            <a:ext cx="11055096" cy="0"/>
          </a:xfrm>
          <a:prstGeom prst="line">
            <a:avLst/>
          </a:prstGeom>
          <a:noFill/>
          <a:ln w="12700">
            <a:solidFill>
              <a:srgbClr val="2A2A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566928" y="4233672"/>
            <a:ext cx="128016" cy="128016"/>
          </a:xfrm>
          <a:prstGeom prst="rect">
            <a:avLst/>
          </a:prstGeom>
          <a:solidFill>
            <a:srgbClr val="E65C2D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" y="4114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Multi-tenant from day one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07408" y="4114800"/>
            <a:ext cx="72146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regulated table carries a tenant key under forced row-level security; serverless, region-parameterised. Scaling is hardening, not re-design.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5029200"/>
            <a:ext cx="11055096" cy="0"/>
          </a:xfrm>
          <a:prstGeom prst="line">
            <a:avLst/>
          </a:prstGeom>
          <a:noFill/>
          <a:ln w="12700">
            <a:solidFill>
              <a:srgbClr val="2A2A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566928" y="5193792"/>
            <a:ext cx="128016" cy="128016"/>
          </a:xfrm>
          <a:prstGeom prst="rect">
            <a:avLst/>
          </a:prstGeom>
          <a:solidFill>
            <a:srgbClr val="E65C2D"/>
          </a:solidFill>
          <a:ln/>
        </p:spPr>
      </p:sp>
      <p:sp>
        <p:nvSpPr>
          <p:cNvPr id="18" name="Text 16"/>
          <p:cNvSpPr/>
          <p:nvPr/>
        </p:nvSpPr>
        <p:spPr>
          <a:xfrm>
            <a:off x="886968" y="50749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 today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07408" y="5074920"/>
            <a:ext cx="72146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live seeded demo runs the whole story — one fraud incident across five consoles — with a fault-injection switch, on synthetic data only.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66928" y="566928"/>
            <a:ext cx="137160" cy="137160"/>
          </a:xfrm>
          <a:prstGeom prst="rect">
            <a:avLst/>
          </a:prstGeom>
          <a:solidFill>
            <a:srgbClr val="E65C2D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00" kern="0" dirty="0">
                <a:solidFill>
                  <a:srgbClr val="F072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OZONE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dirty="0">
                <a:solidFill>
                  <a:srgbClr val="EC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This </a:t>
            </a:r>
            <a:pPr algn="l" indent="0" marL="0">
              <a:lnSpc>
                <a:spcPts val="3600"/>
              </a:lnSpc>
              <a:buNone/>
            </a:pPr>
            <a:r>
              <a:rPr lang="en-US" sz="3300" i="1" dirty="0">
                <a:solidFill>
                  <a:srgbClr val="E65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completes</a:t>
            </a:r>
            <a:pPr algn="l" indent="0" marL="0">
              <a:lnSpc>
                <a:spcPts val="3600"/>
              </a:lnSpc>
              <a:buNone/>
            </a:pPr>
            <a:r>
              <a:rPr lang="en-US" sz="3300" dirty="0">
                <a:solidFill>
                  <a:srgbClr val="EC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 Ozone's offer.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2194560"/>
            <a:ext cx="5344668" cy="160020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395728"/>
            <a:ext cx="4796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7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Already powers the hub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2834640"/>
            <a:ext cx="47960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OFBO consumes hub surfaces via the single P6 egress and Ozone Connect. It never re-implements the gateway — strictly complementary.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7356" y="2194560"/>
            <a:ext cx="5344668" cy="160020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1676" y="2395728"/>
            <a:ext cx="4796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7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Already runs the channel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51676" y="2834640"/>
            <a:ext cx="47960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Ozone's partner program spans Referrer → Reseller → Premium Reseller → dedicated partner-branded infrastructure, with white-label &amp; co-marketing.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4069080"/>
            <a:ext cx="5344668" cy="160020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4270248"/>
            <a:ext cx="4796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7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Already has the SIs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1248" y="4709160"/>
            <a:ext cx="47960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channel that integrates Ozone's platform is the same channel that maps OFBO's ports. No new delivery network needed.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77356" y="4069080"/>
            <a:ext cx="5344668" cy="160020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1676" y="4270248"/>
            <a:ext cx="4796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7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Wins the buyer who won't build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51676" y="4709160"/>
            <a:ext cx="47960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'Connect me' is half the ask; 'let me run it' is the other half. A combined offer is harder to match and easier to say yes to.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598932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C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From connectivity  →  connectivity + operations.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66928" y="566928"/>
            <a:ext cx="137160" cy="137160"/>
          </a:xfrm>
          <a:prstGeom prst="rect">
            <a:avLst/>
          </a:prstGeom>
          <a:solidFill>
            <a:srgbClr val="E65C2D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00" kern="0" dirty="0">
                <a:solidFill>
                  <a:srgbClr val="F072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MODEL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dirty="0">
                <a:solidFill>
                  <a:srgbClr val="EC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MiddleLeap builds · Ozone distributes · </a:t>
            </a:r>
            <a:pPr algn="l" indent="0" marL="0">
              <a:lnSpc>
                <a:spcPts val="3600"/>
              </a:lnSpc>
              <a:buNone/>
            </a:pPr>
            <a:r>
              <a:rPr lang="en-US" sz="3300" i="1" dirty="0">
                <a:solidFill>
                  <a:srgbClr val="E65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SIs deliver.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3441192" cy="182880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2286000"/>
            <a:ext cx="3349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E65C2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MIDDLELEAP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2697480"/>
            <a:ext cx="3349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OEM product vendor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3108960"/>
            <a:ext cx="3075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8A5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· roadmap · maintenance · L3 · platform ops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3880" y="2103120"/>
            <a:ext cx="3441192" cy="182880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19600" y="2286000"/>
            <a:ext cx="3349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E65C2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OZONE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19600" y="2697480"/>
            <a:ext cx="3349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OEM reseller / distributor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56760" y="3108960"/>
            <a:ext cx="3075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8A5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Relationship · brand · billing · first-line · enablement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80832" y="2103120"/>
            <a:ext cx="3441192" cy="182880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6552" y="2286000"/>
            <a:ext cx="3349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E65C2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6552" y="2697480"/>
            <a:ext cx="3349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Delivery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63712" y="3108960"/>
            <a:ext cx="3075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8A5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Port mapping · adapter integration · Bank Profile · go-live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416052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Lead model: full reseller / OEM white-label (Ozone's or the Al Tareq brand). Two tiers on one codebase: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526280"/>
            <a:ext cx="5344668" cy="123444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4663440"/>
            <a:ext cx="48874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Console tier  </a:t>
            </a:r>
            <a:pPr indent="0" marL="0">
              <a:buNone/>
            </a:pPr>
            <a:r>
              <a:rPr lang="en-US" sz="1250" dirty="0">
                <a:solidFill>
                  <a:srgbClr val="A8A5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resell / white-label freely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95528" y="5029200"/>
            <a:ext cx="4887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8A5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Consent ops · care · dispute cases · mandatory reporting · audit posture. The volume tier for the long tail.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77356" y="4526280"/>
            <a:ext cx="5344668" cy="123444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05956" y="4663440"/>
            <a:ext cx="48874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Assurance tier  </a:t>
            </a:r>
            <a:pPr indent="0" marL="0">
              <a:buNone/>
            </a:pPr>
            <a:r>
              <a:rPr lang="en-US" sz="1250" dirty="0">
                <a:solidFill>
                  <a:srgbClr val="F07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independently operated, Ozone-distributed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05956" y="5029200"/>
            <a:ext cx="4887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8A5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Reconciliation · fee verification · liability · SLA. Independence safeguard keeps it credible to an examiner.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66928" y="566928"/>
            <a:ext cx="137160" cy="137160"/>
          </a:xfrm>
          <a:prstGeom prst="rect">
            <a:avLst/>
          </a:prstGeom>
          <a:solidFill>
            <a:srgbClr val="E65C2D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00" kern="0" dirty="0">
                <a:solidFill>
                  <a:srgbClr val="F072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COMMERCIALS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dirty="0">
                <a:solidFill>
                  <a:srgbClr val="EC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How the money works </a:t>
            </a:r>
            <a:pPr algn="l" indent="0" marL="0">
              <a:lnSpc>
                <a:spcPts val="3600"/>
              </a:lnSpc>
              <a:buNone/>
            </a:pPr>
            <a:r>
              <a:rPr lang="en-US" sz="3300" i="1" dirty="0">
                <a:solidFill>
                  <a:srgbClr val="E65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(mechanics, not figures).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3471672" cy="196596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40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65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95528" y="2743200"/>
            <a:ext cx="301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Recurring per-tenant subscription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95528" y="3246120"/>
            <a:ext cx="301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8A5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OEM licence MiddleLeap → Ozone; Ozone sets end price, keeps margin. The annuity that scales with the mandate.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58640" y="2103120"/>
            <a:ext cx="3471672" cy="196596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7240" y="2240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65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87240" y="2743200"/>
            <a:ext cx="301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One-time onboarding / integration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87240" y="3246120"/>
            <a:ext cx="301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8A5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SI-led delivery revenue per institution, with a defined MiddleLeap enablement + L3 role.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50352" y="2103120"/>
            <a:ext cx="3471672" cy="196596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8952" y="2240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65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378952" y="2743200"/>
            <a:ext cx="301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Optional premium modules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78952" y="3246120"/>
            <a:ext cx="301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8A5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Assurance tier, insurer module, advanced analytics — add-ons on the console base.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43434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Money flow:  </a:t>
            </a:r>
            <a:pPr indent="0" marL="0">
              <a:buNone/>
            </a:pPr>
            <a:r>
              <a:rPr lang="en-US" sz="125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Institution → Ozone → MiddleLeap (OEM fee); SIs earn integration (+ optional recurring share).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928" y="475488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Value anchors:  </a:t>
            </a:r>
            <a:pPr indent="0" marL="0">
              <a:buNone/>
            </a:pPr>
            <a:r>
              <a:rPr lang="en-US" sz="125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liability exposure avoided (per institution) · the cost &amp; risk of building in-house avoided.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5303520"/>
            <a:ext cx="11055096" cy="68580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5440680"/>
            <a:ext cx="10597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072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Figures are for negotiation.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follows Ozone's partner ladder, tiered per-institution 'as-a-service' norms, and the ISV-builds / channel-distributes / SI-integrates split.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66928" y="566928"/>
            <a:ext cx="137160" cy="137160"/>
          </a:xfrm>
          <a:prstGeom prst="rect">
            <a:avLst/>
          </a:prstGeom>
          <a:solidFill>
            <a:srgbClr val="E65C2D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00" kern="0" dirty="0">
                <a:solidFill>
                  <a:srgbClr val="F072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GO-TO-MARKET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dirty="0">
                <a:solidFill>
                  <a:srgbClr val="EC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funnel that </a:t>
            </a:r>
            <a:pPr algn="l" indent="0" marL="0">
              <a:lnSpc>
                <a:spcPts val="3600"/>
              </a:lnSpc>
              <a:buNone/>
            </a:pPr>
            <a:r>
              <a:rPr lang="en-US" sz="3300" i="1" dirty="0">
                <a:solidFill>
                  <a:srgbClr val="E65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already exists.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2377440"/>
            <a:ext cx="2420874" cy="219456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560320"/>
            <a:ext cx="20551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65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49808" y="3154680"/>
            <a:ext cx="20551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Sandbox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3749040"/>
            <a:ext cx="2055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8A5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Open, synthetic UAE data. Credibility + try-before-you-buy in minutes.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60954" y="32004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5C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45002" y="2377440"/>
            <a:ext cx="2420874" cy="219456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27882" y="2560320"/>
            <a:ext cx="20551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65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27882" y="3154680"/>
            <a:ext cx="20551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Readiness Wizard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27882" y="3749040"/>
            <a:ext cx="2055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8A5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Port-by-port score + a Bank Profile. Qualifies the prospect, scopes the SI.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39028" y="32004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5C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323076" y="2377440"/>
            <a:ext cx="2420874" cy="219456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5956" y="2560320"/>
            <a:ext cx="20551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65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505956" y="3154680"/>
            <a:ext cx="20551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 pilot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05956" y="3749040"/>
            <a:ext cx="2055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8A5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Console tier stood up on synthetic data; first ports swapped.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17102" y="32004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5C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201150" y="2377440"/>
            <a:ext cx="2420874" cy="219456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84030" y="2560320"/>
            <a:ext cx="20551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65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384030" y="3154680"/>
            <a:ext cx="20551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White-label rollout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84030" y="3749040"/>
            <a:ext cx="2055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8A5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Tenant provisioning, brand, and the assurance-tier add-on.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502920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A8A5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Sequence mirrors the CAAP extension calendar. </a:t>
            </a:r>
            <a:pPr algn="ctr" indent="0" marL="0">
              <a:buNone/>
            </a:pPr>
            <a:r>
              <a:rPr lang="en-US" sz="125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Lighthouse: 2–3 insurers or exchange houses on the 2026 onboarding calendar.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66928" y="566928"/>
            <a:ext cx="137160" cy="137160"/>
          </a:xfrm>
          <a:prstGeom prst="rect">
            <a:avLst/>
          </a:prstGeom>
          <a:solidFill>
            <a:srgbClr val="E65C2D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00" kern="0" dirty="0">
                <a:solidFill>
                  <a:srgbClr val="F072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PROOF &amp; HONESTY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dirty="0">
                <a:solidFill>
                  <a:srgbClr val="EC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Demonstrable today — </a:t>
            </a:r>
            <a:pPr algn="l" indent="0" marL="0">
              <a:lnSpc>
                <a:spcPts val="3600"/>
              </a:lnSpc>
              <a:buNone/>
            </a:pPr>
            <a:r>
              <a:rPr lang="en-US" sz="3300" i="1" dirty="0">
                <a:solidFill>
                  <a:srgbClr val="E65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honest about what's next.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5298948" cy="228600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331720"/>
            <a:ext cx="47503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FA6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IS PROVEN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2788920"/>
            <a:ext cx="47960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OFBO demo — six consoles, fault injection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 Data Sandbox — ~38 personas, 3 domains, v2.1-accurate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Governed discovery→delivery build method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UAE firsts: first bank certification; first live licensed-TPP txns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23076" y="2148840"/>
            <a:ext cx="5298948" cy="228600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97396" y="2331720"/>
            <a:ext cx="47503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072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STATED PLAINLY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97396" y="2788920"/>
            <a:ext cx="47960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Demo-proven, not production-proven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Synthetic data only — no real PSU data, ever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Multi-tenant control plane: designed &amp; backlogged, not built</a:t>
            </a:r>
            <a:endParaRPr lang="en-US" sz="120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Production hardening is joint partnership work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502920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EC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Our brand runs on numbers we can count. We will not represent readiness we have not earned.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66928" y="566928"/>
            <a:ext cx="137160" cy="137160"/>
          </a:xfrm>
          <a:prstGeom prst="rect">
            <a:avLst/>
          </a:prstGeom>
          <a:solidFill>
            <a:srgbClr val="E65C2D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00" kern="0" dirty="0">
                <a:solidFill>
                  <a:srgbClr val="F072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ROADMAP &amp; THE ASK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1055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300" dirty="0">
                <a:solidFill>
                  <a:srgbClr val="EC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joint path </a:t>
            </a:r>
            <a:pPr algn="l" indent="0" marL="0">
              <a:lnSpc>
                <a:spcPts val="3600"/>
              </a:lnSpc>
              <a:buNone/>
            </a:pPr>
            <a:r>
              <a:rPr lang="en-US" sz="3300" i="1" dirty="0">
                <a:solidFill>
                  <a:srgbClr val="E65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to production.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66928" y="2103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8784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PRODUCTION HARDENING (SEQUENCED, HUMAN-GATED)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2423160"/>
            <a:ext cx="2028139" cy="109728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514600"/>
            <a:ext cx="20281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5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76656" y="2926080"/>
            <a:ext cx="18086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Isolation hardening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23667" y="2423160"/>
            <a:ext cx="2028139" cy="109728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23667" y="2514600"/>
            <a:ext cx="20281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5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33395" y="2926080"/>
            <a:ext cx="18086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Tenant provisioning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80406" y="2423160"/>
            <a:ext cx="2028139" cy="109728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80406" y="2514600"/>
            <a:ext cx="20281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5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90134" y="2926080"/>
            <a:ext cx="18086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Per-tenant cert custody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37146" y="2423160"/>
            <a:ext cx="2028139" cy="109728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37146" y="2514600"/>
            <a:ext cx="20281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5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446874" y="2926080"/>
            <a:ext cx="18086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Operator certs (SOC 2 / ISO 27001*)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593885" y="2423160"/>
            <a:ext cx="2028139" cy="1097280"/>
          </a:xfrm>
          <a:prstGeom prst="rect">
            <a:avLst/>
          </a:prstGeom>
          <a:solidFill>
            <a:srgbClr val="1A1A18"/>
          </a:solidFill>
          <a:ln w="12700">
            <a:solidFill>
              <a:srgbClr val="2A2A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93885" y="2514600"/>
            <a:ext cx="20281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5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703613" y="2926080"/>
            <a:ext cx="18086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DEDB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Insurer module + ROI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6928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7847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*Ozone already holds ISO/IEC 27001.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6928" y="4114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F072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WE ASK OF OZONE TO START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 rot="2700000">
            <a:off x="566928" y="4526280"/>
            <a:ext cx="118872" cy="118872"/>
          </a:xfrm>
          <a:prstGeom prst="rect">
            <a:avLst/>
          </a:prstGeom>
          <a:solidFill>
            <a:srgbClr val="E65C2D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70916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Channel commitment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6928" y="507492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8A5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Carry OFBO as a value-adding layer in the partner program.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 rot="2700000">
            <a:off x="3410712" y="4526280"/>
            <a:ext cx="118872" cy="118872"/>
          </a:xfrm>
          <a:prstGeom prst="rect">
            <a:avLst/>
          </a:prstGeom>
          <a:solidFill>
            <a:srgbClr val="E65C2D"/>
          </a:solidFill>
          <a:ln/>
        </p:spPr>
      </p:sp>
      <p:sp>
        <p:nvSpPr>
          <p:cNvPr id="27" name="Text 25"/>
          <p:cNvSpPr/>
          <p:nvPr/>
        </p:nvSpPr>
        <p:spPr>
          <a:xfrm>
            <a:off x="3410712" y="470916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lighthouse customer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410712" y="507492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8A5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or two institutions from the 2026 onboarding calendar.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 rot="2700000">
            <a:off x="6254496" y="4526280"/>
            <a:ext cx="118872" cy="118872"/>
          </a:xfrm>
          <a:prstGeom prst="rect">
            <a:avLst/>
          </a:prstGeom>
          <a:solidFill>
            <a:srgbClr val="E65C2D"/>
          </a:solidFill>
          <a:ln/>
        </p:spPr>
      </p:sp>
      <p:sp>
        <p:nvSpPr>
          <p:cNvPr id="30" name="Text 28"/>
          <p:cNvSpPr/>
          <p:nvPr/>
        </p:nvSpPr>
        <p:spPr>
          <a:xfrm>
            <a:off x="6254496" y="470916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 enablement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254496" y="507492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8A5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first delivery partner briefed on the port-mapping playbook.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 rot="2700000">
            <a:off x="9098280" y="4526280"/>
            <a:ext cx="118872" cy="118872"/>
          </a:xfrm>
          <a:prstGeom prst="rect">
            <a:avLst/>
          </a:prstGeom>
          <a:solidFill>
            <a:srgbClr val="E65C2D"/>
          </a:solidFill>
          <a:ln/>
        </p:spPr>
      </p:sp>
      <p:sp>
        <p:nvSpPr>
          <p:cNvPr id="33" name="Text 31"/>
          <p:cNvSpPr/>
          <p:nvPr/>
        </p:nvSpPr>
        <p:spPr>
          <a:xfrm>
            <a:off x="9098280" y="470916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Scheme positioning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098280" y="507492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8A5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joint Nebras / CBUAE conversation on outsourcing &amp; independence.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66928" y="658368"/>
            <a:ext cx="164592" cy="164592"/>
          </a:xfrm>
          <a:prstGeom prst="rect">
            <a:avLst/>
          </a:prstGeom>
          <a:solidFill>
            <a:srgbClr val="E65C2D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603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00" kern="0" dirty="0">
                <a:solidFill>
                  <a:srgbClr val="F072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600" dirty="0">
                <a:solidFill>
                  <a:srgbClr val="ECE9E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Let's put a working session </a:t>
            </a:r>
            <a:pPr algn="l" indent="0" marL="0">
              <a:lnSpc>
                <a:spcPts val="5000"/>
              </a:lnSpc>
              <a:buNone/>
            </a:pPr>
            <a:r>
              <a:rPr lang="en-US" sz="4600" i="1" dirty="0">
                <a:solidFill>
                  <a:srgbClr val="E65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 the calendar.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65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5568" y="2898648"/>
            <a:ext cx="10506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45-minute working demo   </a:t>
            </a:r>
            <a:pPr indent="0" marL="0">
              <a:buNone/>
            </a:pPr>
            <a:r>
              <a:rPr lang="en-US" sz="1400" dirty="0">
                <a:solidFill>
                  <a:srgbClr val="A8A5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Consent revoke → dispute → report → refund → scheme case, fault injected live.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65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15568" y="3557016"/>
            <a:ext cx="10506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commercial working session   </a:t>
            </a:r>
            <a:pPr indent="0" marL="0">
              <a:buNone/>
            </a:pPr>
            <a:r>
              <a:rPr lang="en-US" sz="1400" dirty="0">
                <a:solidFill>
                  <a:srgbClr val="A8A5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Packaging, tiers and OEM / rev-share against your partner-program spine.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65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15568" y="4215384"/>
            <a:ext cx="10506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scoped lighthouse pilot   </a:t>
            </a:r>
            <a:pPr indent="0" marL="0">
              <a:buNone/>
            </a:pPr>
            <a:r>
              <a:rPr lang="en-US" sz="1400" dirty="0">
                <a:solidFill>
                  <a:srgbClr val="A8A5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2–3 institutions on the 2026 calendar, one SI briefed.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4855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65C2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15568" y="4873752"/>
            <a:ext cx="10506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joint scheme conversation   </a:t>
            </a:r>
            <a:pPr indent="0" marL="0">
              <a:buNone/>
            </a:pPr>
            <a:r>
              <a:rPr lang="en-US" sz="1400" dirty="0">
                <a:solidFill>
                  <a:srgbClr val="A8A5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Nebras / CBUAE on the outsourcing and independence posture.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5989320"/>
            <a:ext cx="11055096" cy="0"/>
          </a:xfrm>
          <a:prstGeom prst="line">
            <a:avLst/>
          </a:prstGeom>
          <a:noFill/>
          <a:ln w="12700">
            <a:solidFill>
              <a:srgbClr val="2A2A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CE9E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Middle</a:t>
            </a:r>
            <a:pPr algn="l" indent="0" marL="0">
              <a:buNone/>
            </a:pPr>
            <a:r>
              <a:rPr lang="en-US" sz="1200" b="1" dirty="0">
                <a:solidFill>
                  <a:srgbClr val="E65C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Leap</a:t>
            </a:r>
            <a:pPr algn="l" indent="0" marL="0">
              <a:buNone/>
            </a:pPr>
            <a:r>
              <a:rPr lang="en-US" sz="1200" b="1" dirty="0">
                <a:solidFill>
                  <a:srgbClr val="87847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·   From strategic mandate to market execution.   ·   contact@middleleap.com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MiddleLeap x Ozone - Open Finance operations, out of the box</dc:title>
  <dc:subject>PptxGenJS Presentation</dc:subject>
  <dc:creator>MiddleLeap</dc:creator>
  <cp:lastModifiedBy>MiddleLeap</cp:lastModifiedBy>
  <cp:revision>1</cp:revision>
  <dcterms:created xsi:type="dcterms:W3CDTF">2026-07-21T14:55:25Z</dcterms:created>
  <dcterms:modified xsi:type="dcterms:W3CDTF">2026-07-21T14:55:25Z</dcterms:modified>
</cp:coreProperties>
</file>