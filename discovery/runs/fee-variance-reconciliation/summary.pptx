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"/>
  </p:sldMasterIdLst>
  <p:sldIdLst>
    <p:sldId id="256" r:id="rId1"/>
    <p:sldId id="257" r:id="rId2"/>
    <p:sldId id="258" r:id="rId3"/>
    <p:sldId id="259" r:id="rId4"/>
    <p:sldId id="260" r:id="rId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M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T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T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!-- discovery/brand/design.md@v1 --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B8860B"/>
          </a:solidFill>
        </p:spPr>
        <p:txBody>
          <a:bodyPr/>
          <a:lstStyle/>
          <a:p/>
        </p:txBody>
      </p:sp>
      <p:sp>
        <p:nvSpPr>
          <p:cNvPr id="3" name="demo"/>
          <p:cNvSpPr>
            <a:spLocks noGrp="1"/>
          </p:cNvSpPr>
          <p:nvPr/>
        </p:nvSpPr>
        <p:spPr>
          <a:xfrm>
            <a:off x="152400" y="30480"/>
            <a:ext cx="11887200" cy="2133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000">
                <a:solidFill>
                  <a:srgbClr val="FFFFFF"/>
                </a:solidFill>
                <a:latin typeface="Inter"/>
              </a:rPr>
              <a:t>DEMO — synthetic, non-production</a:t>
            </a: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685800" y="2438400"/>
            <a:ext cx="10820400" cy="1371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4000" b="1">
                <a:solidFill>
                  <a:srgbClr val="1F4DB8"/>
                </a:solidFill>
                <a:latin typeface="Inter"/>
              </a:rPr>
              <a:t>Fee-variance reconciliation</a:t>
            </a:r>
          </a:p>
        </p:txBody>
      </p:sp>
      <p:sp>
        <p:nvSpPr>
          <p:cNvPr id="5" name="sub"/>
          <p:cNvSpPr>
            <a:spLocks noGrp="1"/>
          </p:cNvSpPr>
          <p:nvPr/>
        </p:nvSpPr>
        <p:spPr>
          <a:xfrm>
            <a:off x="685800" y="3886200"/>
            <a:ext cx="10820400" cy="685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2000">
                <a:solidFill>
                  <a:srgbClr val="5A6473"/>
                </a:solidFill>
                <a:latin typeface="Inter"/>
              </a:rPr>
              <a:t>Discovery readout · synthetic · non-production</a:t>
            </a:r>
          </a:p>
        </p:txBody>
      </p:sp>
    </p:spTree>
  </p:cSld>
</p:sld>
</file>

<file path=ppt/slides/slide2.xml><?xml version="1.0" encoding="utf-8"?>
<!-- discovery/brand/design.md@v1 --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B8860B"/>
          </a:solidFill>
        </p:spPr>
        <p:txBody>
          <a:bodyPr/>
          <a:lstStyle/>
          <a:p/>
        </p:txBody>
      </p:sp>
      <p:sp>
        <p:nvSpPr>
          <p:cNvPr id="3" name="demo"/>
          <p:cNvSpPr>
            <a:spLocks noGrp="1"/>
          </p:cNvSpPr>
          <p:nvPr/>
        </p:nvSpPr>
        <p:spPr>
          <a:xfrm>
            <a:off x="152400" y="30480"/>
            <a:ext cx="11887200" cy="2133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000">
                <a:solidFill>
                  <a:srgbClr val="FFFFFF"/>
                </a:solidFill>
                <a:latin typeface="Inter"/>
              </a:rPr>
              <a:t>DEMO — synthetic, non-production</a:t>
            </a:r>
          </a:p>
        </p:txBody>
      </p:sp>
      <p:sp>
        <p:nvSpPr>
          <p:cNvPr id="4" name="kicker"/>
          <p:cNvSpPr>
            <a:spLocks noGrp="1"/>
          </p:cNvSpPr>
          <p:nvPr/>
        </p:nvSpPr>
        <p:spPr>
          <a:xfrm>
            <a:off x="685800" y="548640"/>
            <a:ext cx="10820400" cy="457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400" b="1">
                <a:solidFill>
                  <a:srgbClr val="1F4DB8"/>
                </a:solidFill>
                <a:latin typeface="Inter"/>
              </a:rPr>
              <a:t>PROBLEM</a:t>
            </a: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685800" y="990600"/>
            <a:ext cx="10820400" cy="99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3200" b="1">
                <a:solidFill>
                  <a:srgbClr val="0B1221"/>
                </a:solidFill>
                <a:latin typeface="Inter"/>
              </a:rPr>
              <a:t>Fee variances surface too late</a:t>
            </a:r>
          </a:p>
        </p:txBody>
      </p:sp>
      <p:sp>
        <p:nvSpPr>
          <p:cNvPr id="6" name="body"/>
          <p:cNvSpPr>
            <a:spLocks noGrp="1"/>
          </p:cNvSpPr>
          <p:nvPr/>
        </p:nvSpPr>
        <p:spPr>
          <a:xfrm>
            <a:off x="685800" y="2133600"/>
            <a:ext cx="10820400" cy="3200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2000">
                <a:solidFill>
                  <a:srgbClr val="0B1221"/>
                </a:solidFill>
                <a:latin typeface="Inter"/>
              </a:rPr>
              <a:t>•  3.8% of invoiced fee lines diverge from the contracted tariff</a:t>
            </a:r>
          </a:p>
          <a:p>
            <a:r>
              <a:rPr lang="en-US" sz="2000">
                <a:solidFill>
                  <a:srgbClr val="0B1221"/>
                </a:solidFill>
                <a:latin typeface="Inter"/>
              </a:rPr>
              <a:t>•  Only visible at the month-end close — leakage compounds for weeks</a:t>
            </a:r>
          </a:p>
          <a:p>
            <a:r>
              <a:rPr lang="en-US" sz="2000">
                <a:solidFill>
                  <a:srgbClr val="0B1221"/>
                </a:solidFill>
                <a:latin typeface="Inter"/>
              </a:rPr>
              <a:t>•  Three systems report three different variance totals</a:t>
            </a:r>
          </a:p>
        </p:txBody>
      </p:sp>
      <p:sp>
        <p:nvSpPr>
          <p:cNvPr id="7" name="note"/>
          <p:cNvSpPr>
            <a:spLocks noGrp="1"/>
          </p:cNvSpPr>
          <p:nvPr/>
        </p:nvSpPr>
        <p:spPr>
          <a:xfrm>
            <a:off x="685800" y="5715000"/>
            <a:ext cx="10820400" cy="685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400">
                <a:solidFill>
                  <a:srgbClr val="5A6473"/>
                </a:solidFill>
                <a:latin typeface="Inter"/>
              </a:rPr>
              <a:t>Today the trigger is the close, not the event.</a:t>
            </a:r>
          </a:p>
        </p:txBody>
      </p:sp>
    </p:spTree>
  </p:cSld>
</p:sld>
</file>

<file path=ppt/slides/slide3.xml><?xml version="1.0" encoding="utf-8"?>
<!-- discovery/brand/design.md@v1 --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B8860B"/>
          </a:solidFill>
        </p:spPr>
        <p:txBody>
          <a:bodyPr/>
          <a:lstStyle/>
          <a:p/>
        </p:txBody>
      </p:sp>
      <p:sp>
        <p:nvSpPr>
          <p:cNvPr id="3" name="demo"/>
          <p:cNvSpPr>
            <a:spLocks noGrp="1"/>
          </p:cNvSpPr>
          <p:nvPr/>
        </p:nvSpPr>
        <p:spPr>
          <a:xfrm>
            <a:off x="152400" y="30480"/>
            <a:ext cx="11887200" cy="2133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000">
                <a:solidFill>
                  <a:srgbClr val="FFFFFF"/>
                </a:solidFill>
                <a:latin typeface="Inter"/>
              </a:rPr>
              <a:t>DEMO — synthetic, non-production</a:t>
            </a:r>
          </a:p>
        </p:txBody>
      </p:sp>
      <p:sp>
        <p:nvSpPr>
          <p:cNvPr id="4" name="kicker"/>
          <p:cNvSpPr>
            <a:spLocks noGrp="1"/>
          </p:cNvSpPr>
          <p:nvPr/>
        </p:nvSpPr>
        <p:spPr>
          <a:xfrm>
            <a:off x="685800" y="548640"/>
            <a:ext cx="10820400" cy="457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400" b="1">
                <a:solidFill>
                  <a:srgbClr val="1F4DB8"/>
                </a:solidFill>
                <a:latin typeface="Inter"/>
              </a:rPr>
              <a:t>WHO &amp; WHY</a:t>
            </a: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685800" y="990600"/>
            <a:ext cx="10820400" cy="99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3200" b="1">
                <a:solidFill>
                  <a:srgbClr val="0B1221"/>
                </a:solidFill>
                <a:latin typeface="Inter"/>
              </a:rPr>
              <a:t>Reconciliation is done by hand</a:t>
            </a:r>
          </a:p>
        </p:txBody>
      </p:sp>
      <p:sp>
        <p:nvSpPr>
          <p:cNvPr id="6" name="body"/>
          <p:cNvSpPr>
            <a:spLocks noGrp="1"/>
          </p:cNvSpPr>
          <p:nvPr/>
        </p:nvSpPr>
        <p:spPr>
          <a:xfrm>
            <a:off x="685800" y="2133600"/>
            <a:ext cx="10820400" cy="3200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2000">
                <a:solidFill>
                  <a:srgbClr val="0B1221"/>
                </a:solidFill>
                <a:latin typeface="Inter"/>
              </a:rPr>
              <a:t>•  Analyst rebuilds variance in an end-user spreadsheet (EUC)</a:t>
            </a:r>
          </a:p>
          <a:p>
            <a:r>
              <a:rPr lang="en-US" sz="2000">
                <a:solidFill>
                  <a:srgbClr val="0B1221"/>
                </a:solidFill>
                <a:latin typeface="Inter"/>
              </a:rPr>
              <a:t>•  Finance carries the leakage and the rework</a:t>
            </a:r>
          </a:p>
          <a:p>
            <a:r>
              <a:rPr lang="en-US" sz="2000">
                <a:solidFill>
                  <a:srgbClr val="0B1221"/>
                </a:solidFill>
                <a:latin typeface="Inter"/>
              </a:rPr>
              <a:t>•  Governance cannot evidence fee accuracy to source</a:t>
            </a:r>
          </a:p>
        </p:txBody>
      </p:sp>
    </p:spTree>
  </p:cSld>
</p:sld>
</file>

<file path=ppt/slides/slide4.xml><?xml version="1.0" encoding="utf-8"?>
<!-- discovery/brand/design.md@v1 --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B8860B"/>
          </a:solidFill>
        </p:spPr>
        <p:txBody>
          <a:bodyPr/>
          <a:lstStyle/>
          <a:p/>
        </p:txBody>
      </p:sp>
      <p:sp>
        <p:nvSpPr>
          <p:cNvPr id="3" name="demo"/>
          <p:cNvSpPr>
            <a:spLocks noGrp="1"/>
          </p:cNvSpPr>
          <p:nvPr/>
        </p:nvSpPr>
        <p:spPr>
          <a:xfrm>
            <a:off x="152400" y="30480"/>
            <a:ext cx="11887200" cy="2133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000">
                <a:solidFill>
                  <a:srgbClr val="FFFFFF"/>
                </a:solidFill>
                <a:latin typeface="Inter"/>
              </a:rPr>
              <a:t>DEMO — synthetic, non-production</a:t>
            </a:r>
          </a:p>
        </p:txBody>
      </p:sp>
      <p:sp>
        <p:nvSpPr>
          <p:cNvPr id="4" name="kicker"/>
          <p:cNvSpPr>
            <a:spLocks noGrp="1"/>
          </p:cNvSpPr>
          <p:nvPr/>
        </p:nvSpPr>
        <p:spPr>
          <a:xfrm>
            <a:off x="685800" y="548640"/>
            <a:ext cx="10820400" cy="457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400" b="1">
                <a:solidFill>
                  <a:srgbClr val="1F4DB8"/>
                </a:solidFill>
                <a:latin typeface="Inter"/>
              </a:rPr>
              <a:t>FEASIBILITY</a:t>
            </a: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685800" y="990600"/>
            <a:ext cx="10820400" cy="99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3200" b="1">
                <a:solidFill>
                  <a:srgbClr val="0B1221"/>
                </a:solidFill>
                <a:latin typeface="Inter"/>
              </a:rPr>
              <a:t>Governance says: observe and reconcile</a:t>
            </a:r>
          </a:p>
        </p:txBody>
      </p:sp>
      <p:sp>
        <p:nvSpPr>
          <p:cNvPr id="6" name="body"/>
          <p:cNvSpPr>
            <a:spLocks noGrp="1"/>
          </p:cNvSpPr>
          <p:nvPr/>
        </p:nvSpPr>
        <p:spPr>
          <a:xfrm>
            <a:off x="685800" y="2133600"/>
            <a:ext cx="10820400" cy="3200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2000">
                <a:solidFill>
                  <a:srgbClr val="0B1221"/>
                </a:solidFill>
                <a:latin typeface="Inter"/>
              </a:rPr>
              <a:t>•  Maps to DR-1 Data Quality (DR-1.1-003 / DR-1.3-001 / DR-1.4-001)</a:t>
            </a:r>
          </a:p>
          <a:p>
            <a:r>
              <a:rPr lang="en-US" sz="2000">
                <a:solidFill>
                  <a:srgbClr val="0B1221"/>
                </a:solidFill>
                <a:latin typeface="Inter"/>
              </a:rPr>
              <a:t>•  Controls CTRL-DQ-003 / 006 / 012 take residual risk to Very Low</a:t>
            </a:r>
          </a:p>
          <a:p>
            <a:r>
              <a:rPr lang="en-US" sz="2000">
                <a:solidFill>
                  <a:srgbClr val="0B1221"/>
                </a:solidFill>
                <a:latin typeface="Inter"/>
              </a:rPr>
              <a:t>•  Commercial data only — no PSU PII; BCBS 239 lineage to source</a:t>
            </a:r>
          </a:p>
        </p:txBody>
      </p:sp>
      <p:sp>
        <p:nvSpPr>
          <p:cNvPr id="7" name="note"/>
          <p:cNvSpPr>
            <a:spLocks noGrp="1"/>
          </p:cNvSpPr>
          <p:nvPr/>
        </p:nvSpPr>
        <p:spPr>
          <a:xfrm>
            <a:off x="685800" y="5715000"/>
            <a:ext cx="10820400" cy="685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400">
                <a:solidFill>
                  <a:srgbClr val="5A6473"/>
                </a:solidFill>
                <a:latin typeface="Inter"/>
              </a:rPr>
              <a:t>Read-only observability + reconciliation, not a new processing purpose.</a:t>
            </a:r>
          </a:p>
        </p:txBody>
      </p:sp>
    </p:spTree>
  </p:cSld>
</p:sld>
</file>

<file path=ppt/slides/slide5.xml><?xml version="1.0" encoding="utf-8"?>
<!-- discovery/brand/design.md@v1 --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B8860B"/>
          </a:solidFill>
        </p:spPr>
        <p:txBody>
          <a:bodyPr/>
          <a:lstStyle/>
          <a:p/>
        </p:txBody>
      </p:sp>
      <p:sp>
        <p:nvSpPr>
          <p:cNvPr id="3" name="demo"/>
          <p:cNvSpPr>
            <a:spLocks noGrp="1"/>
          </p:cNvSpPr>
          <p:nvPr/>
        </p:nvSpPr>
        <p:spPr>
          <a:xfrm>
            <a:off x="152400" y="30480"/>
            <a:ext cx="11887200" cy="2133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000">
                <a:solidFill>
                  <a:srgbClr val="FFFFFF"/>
                </a:solidFill>
                <a:latin typeface="Inter"/>
              </a:rPr>
              <a:t>DEMO — synthetic, non-production</a:t>
            </a:r>
          </a:p>
        </p:txBody>
      </p:sp>
      <p:sp>
        <p:nvSpPr>
          <p:cNvPr id="4" name="kicker"/>
          <p:cNvSpPr>
            <a:spLocks noGrp="1"/>
          </p:cNvSpPr>
          <p:nvPr/>
        </p:nvSpPr>
        <p:spPr>
          <a:xfrm>
            <a:off x="685800" y="548640"/>
            <a:ext cx="10820400" cy="457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400" b="1">
                <a:solidFill>
                  <a:srgbClr val="1F4DB8"/>
                </a:solidFill>
                <a:latin typeface="Inter"/>
              </a:rPr>
              <a:t>DIRECTION</a:t>
            </a: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685800" y="990600"/>
            <a:ext cx="10820400" cy="99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3200" b="1">
                <a:solidFill>
                  <a:srgbClr val="0B1221"/>
                </a:solidFill>
                <a:latin typeface="Inter"/>
              </a:rPr>
              <a:t>A fee-variance reconciliation monitor</a:t>
            </a:r>
          </a:p>
        </p:txBody>
      </p:sp>
      <p:sp>
        <p:nvSpPr>
          <p:cNvPr id="6" name="body"/>
          <p:cNvSpPr>
            <a:spLocks noGrp="1"/>
          </p:cNvSpPr>
          <p:nvPr/>
        </p:nvSpPr>
        <p:spPr>
          <a:xfrm>
            <a:off x="685800" y="2133600"/>
            <a:ext cx="10820400" cy="3200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2000">
                <a:solidFill>
                  <a:srgbClr val="0B1221"/>
                </a:solidFill>
                <a:latin typeface="Inter"/>
              </a:rPr>
              <a:t>•  Surface open variances per invoice line, not at month-end</a:t>
            </a:r>
          </a:p>
          <a:p>
            <a:r>
              <a:rPr lang="en-US" sz="2000">
                <a:solidFill>
                  <a:srgbClr val="0B1221"/>
                </a:solidFill>
                <a:latin typeface="Inter"/>
              </a:rPr>
              <a:t>•  One reconciled figure across ledger, invoice, and contract</a:t>
            </a:r>
          </a:p>
          <a:p>
            <a:r>
              <a:rPr lang="en-US" sz="2000">
                <a:solidFill>
                  <a:srgbClr val="0B1221"/>
                </a:solidFill>
                <a:latin typeface="Inter"/>
              </a:rPr>
              <a:t>•  Accuracy lineage available on demand</a:t>
            </a:r>
          </a:p>
        </p:txBody>
      </p:sp>
      <p:sp>
        <p:nvSpPr>
          <p:cNvPr id="7" name="note"/>
          <p:cNvSpPr>
            <a:spLocks noGrp="1"/>
          </p:cNvSpPr>
          <p:nvPr/>
        </p:nvSpPr>
        <p:spPr>
          <a:xfrm>
            <a:off x="685800" y="5715000"/>
            <a:ext cx="10820400" cy="685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400">
                <a:solidFill>
                  <a:srgbClr val="5A6473"/>
                </a:solidFill>
                <a:latin typeface="Inter"/>
              </a:rPr>
              <a:t>Prototype is direction, not specification — delivery authors the build.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Fee-variance reconciliation</dc:title>
  <dc:description>discovery/brand/design.md@v1</dc:description>
</cp:coreProperties>
</file>